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354" r:id="rId4"/>
  </p:sldMasterIdLst>
  <p:notesMasterIdLst>
    <p:notesMasterId r:id="rId17"/>
  </p:notesMasterIdLst>
  <p:handoutMasterIdLst>
    <p:handoutMasterId r:id="rId18"/>
  </p:handoutMasterIdLst>
  <p:sldIdLst>
    <p:sldId id="1497" r:id="rId5"/>
    <p:sldId id="1514" r:id="rId6"/>
    <p:sldId id="1520" r:id="rId7"/>
    <p:sldId id="1519" r:id="rId8"/>
    <p:sldId id="1522" r:id="rId9"/>
    <p:sldId id="1521" r:id="rId10"/>
    <p:sldId id="1525" r:id="rId11"/>
    <p:sldId id="1523" r:id="rId12"/>
    <p:sldId id="1524" r:id="rId13"/>
    <p:sldId id="1526" r:id="rId14"/>
    <p:sldId id="1499" r:id="rId15"/>
    <p:sldId id="1527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B5B5CD-B2CA-4BE5-83B4-2F5E49E87798}" v="177" dt="2026-04-05T08:29:39.636"/>
  </p1510:revLst>
</p1510:revInfo>
</file>

<file path=ppt/tableStyles.xml><?xml version="1.0" encoding="utf-8"?>
<a:tblStyleLst xmlns:a="http://schemas.openxmlformats.org/drawingml/2006/main" def="{5940675A-B579-460E-94D1-54222C63F5D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0079" autoAdjust="0"/>
  </p:normalViewPr>
  <p:slideViewPr>
    <p:cSldViewPr snapToGrid="0">
      <p:cViewPr varScale="1">
        <p:scale>
          <a:sx n="74" d="100"/>
          <a:sy n="74" d="100"/>
        </p:scale>
        <p:origin x="1042" y="72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4/5/2026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4/5/2026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PanelTitle-GrommetsCombin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665DFBE8-81F4-46A1-BB38-C49D79C4F68D}" type="datetime1">
              <a:rPr lang="en-US" smtClean="0"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32059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DFBE8-81F4-46A1-BB38-C49D79C4F68D}" type="datetime1">
              <a:rPr lang="en-US" smtClean="0"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950140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DFBE8-81F4-46A1-BB38-C49D79C4F68D}" type="datetime1">
              <a:rPr lang="en-US" smtClean="0"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141670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DFBE8-81F4-46A1-BB38-C49D79C4F68D}" type="datetime1">
              <a:rPr lang="en-US" smtClean="0"/>
              <a:t>4/5/2026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169292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DFBE8-81F4-46A1-BB38-C49D79C4F68D}" type="datetime1">
              <a:rPr lang="en-US" smtClean="0"/>
              <a:t>4/5/2026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226663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7FA73-4BE2-4237-90E8-28123CE1B9FA}" type="datetime1">
              <a:rPr lang="en-US" smtClean="0"/>
              <a:t>4/5/2026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7742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A1E88-22B3-4091-902C-19D6AD2267FE}" type="datetime1">
              <a:rPr lang="en-US" smtClean="0"/>
              <a:t>4/5/2026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8681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FC53A-E163-43E4-9309-C62B24E59229}" type="datetime1">
              <a:rPr lang="en-US" smtClean="0"/>
              <a:t>4/5/2026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0784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DFBE8-81F4-46A1-BB38-C49D79C4F68D}" type="datetime1">
              <a:rPr lang="en-US" smtClean="0"/>
              <a:t>4/5/2026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102259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DFBE8-81F4-46A1-BB38-C49D79C4F68D}" type="datetime1">
              <a:rPr lang="en-US" smtClean="0"/>
              <a:t>4/5/2026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459312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DFBE8-81F4-46A1-BB38-C49D79C4F68D}" type="datetime1">
              <a:rPr lang="en-US" smtClean="0"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847322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DFBE8-81F4-46A1-BB38-C49D79C4F68D}" type="datetime1">
              <a:rPr lang="en-US" smtClean="0"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6455772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DFBE8-81F4-46A1-BB38-C49D79C4F68D}" type="datetime1">
              <a:rPr lang="en-US" smtClean="0"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8454203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DFBE8-81F4-46A1-BB38-C49D79C4F68D}" type="datetime1">
              <a:rPr lang="en-US" smtClean="0"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6424506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DFBE8-81F4-46A1-BB38-C49D79C4F68D}" type="datetime1">
              <a:rPr lang="en-US" smtClean="0"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8423164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DFBE8-81F4-46A1-BB38-C49D79C4F68D}" type="datetime1">
              <a:rPr lang="en-US" smtClean="0"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1579611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DFBE8-81F4-46A1-BB38-C49D79C4F68D}" type="datetime1">
              <a:rPr lang="en-US" smtClean="0"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5273288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4D61D-AA1D-D414-2D63-F3B4B0760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0708" y="2801929"/>
            <a:ext cx="8686801" cy="2565902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66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1B0EE02-7A0B-46A0-5F6E-CFBC94BDF5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46090" y="1726269"/>
            <a:ext cx="3024899" cy="547908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10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67AE0A-CAE3-D199-2942-E05831D340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BE4564F8-E916-4EFF-887D-D1E1BBF6454B}" type="datetime1">
              <a:rPr lang="en-US" smtClean="0"/>
              <a:t>4/5/2026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DFBF0A-E355-74AD-4A6E-8FD2BD7A6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71D965-1C87-6430-A8A7-B6EB43D86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847214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907302"/>
            <a:ext cx="4361688" cy="138696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6" y="2438545"/>
            <a:ext cx="4366917" cy="35121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989A950D-4E95-617D-73A8-2088AA91A8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49422" y="333756"/>
            <a:ext cx="6086539" cy="6190488"/>
          </a:xfrm>
          <a:custGeom>
            <a:avLst/>
            <a:gdLst>
              <a:gd name="connsiteX0" fmla="*/ 0 w 6086539"/>
              <a:gd name="connsiteY0" fmla="*/ 0 h 6181344"/>
              <a:gd name="connsiteX1" fmla="*/ 5900171 w 6086539"/>
              <a:gd name="connsiteY1" fmla="*/ 0 h 6181344"/>
              <a:gd name="connsiteX2" fmla="*/ 6086539 w 6086539"/>
              <a:gd name="connsiteY2" fmla="*/ 186368 h 6181344"/>
              <a:gd name="connsiteX3" fmla="*/ 6086539 w 6086539"/>
              <a:gd name="connsiteY3" fmla="*/ 5994976 h 6181344"/>
              <a:gd name="connsiteX4" fmla="*/ 5900171 w 6086539"/>
              <a:gd name="connsiteY4" fmla="*/ 6181344 h 6181344"/>
              <a:gd name="connsiteX5" fmla="*/ 0 w 6086539"/>
              <a:gd name="connsiteY5" fmla="*/ 6181344 h 6181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86539" h="6181344">
                <a:moveTo>
                  <a:pt x="0" y="0"/>
                </a:moveTo>
                <a:lnTo>
                  <a:pt x="5900171" y="0"/>
                </a:lnTo>
                <a:cubicBezTo>
                  <a:pt x="6003099" y="0"/>
                  <a:pt x="6086539" y="83440"/>
                  <a:pt x="6086539" y="186368"/>
                </a:cubicBezTo>
                <a:lnTo>
                  <a:pt x="6086539" y="5994976"/>
                </a:lnTo>
                <a:cubicBezTo>
                  <a:pt x="6086539" y="6097904"/>
                  <a:pt x="6003099" y="6181344"/>
                  <a:pt x="5900171" y="6181344"/>
                </a:cubicBezTo>
                <a:lnTo>
                  <a:pt x="0" y="6181344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29916"/>
            <a:ext cx="2031073" cy="328084"/>
          </a:xfrm>
          <a:prstGeom prst="rect">
            <a:avLst/>
          </a:prstGeom>
        </p:spPr>
        <p:txBody>
          <a:bodyPr/>
          <a:lstStyle/>
          <a:p>
            <a:fld id="{D5E635FD-01E5-4F9B-B7E3-4E8E4D553502}" type="datetime1">
              <a:rPr lang="en-US" smtClean="0"/>
              <a:t>4/5/2026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529916"/>
            <a:ext cx="2805405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529916"/>
            <a:ext cx="429207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59797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0428" y="990601"/>
            <a:ext cx="9145991" cy="3630384"/>
          </a:xfrm>
        </p:spPr>
        <p:txBody>
          <a:bodyPr anchor="b">
            <a:noAutofit/>
          </a:bodyPr>
          <a:lstStyle>
            <a:lvl1pPr algn="l">
              <a:defRPr sz="65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D69ADDC-FB37-4BD0-807F-2EC90205924B}" type="datetime1">
              <a:rPr lang="en-US" smtClean="0"/>
              <a:pPr/>
              <a:t>4/5/2026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81239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Content-GrommetsCombined.png"/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65DFBE8-81F4-46A1-BB38-C49D79C4F68D}" type="datetime1">
              <a:rPr lang="en-US" smtClean="0"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312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55" r:id="rId1"/>
    <p:sldLayoutId id="2147484356" r:id="rId2"/>
    <p:sldLayoutId id="2147484357" r:id="rId3"/>
    <p:sldLayoutId id="2147484358" r:id="rId4"/>
    <p:sldLayoutId id="2147484359" r:id="rId5"/>
    <p:sldLayoutId id="2147484360" r:id="rId6"/>
    <p:sldLayoutId id="2147484361" r:id="rId7"/>
    <p:sldLayoutId id="2147484362" r:id="rId8"/>
    <p:sldLayoutId id="2147484363" r:id="rId9"/>
    <p:sldLayoutId id="2147484364" r:id="rId10"/>
    <p:sldLayoutId id="2147484365" r:id="rId11"/>
    <p:sldLayoutId id="2147484366" r:id="rId12"/>
    <p:sldLayoutId id="2147484367" r:id="rId13"/>
    <p:sldLayoutId id="2147484368" r:id="rId14"/>
    <p:sldLayoutId id="2147484369" r:id="rId15"/>
    <p:sldLayoutId id="2147484370" r:id="rId16"/>
    <p:sldLayoutId id="2147484371" r:id="rId17"/>
    <p:sldLayoutId id="2147484372" r:id="rId18"/>
    <p:sldLayoutId id="2147484373" r:id="rId19"/>
    <p:sldLayoutId id="2147484374" r:id="rId20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57989-07E4-B482-9F2A-EBF670F7F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3508" y="2274177"/>
            <a:ext cx="8686801" cy="2565902"/>
          </a:xfrm>
        </p:spPr>
        <p:txBody>
          <a:bodyPr>
            <a:normAutofit/>
          </a:bodyPr>
          <a:lstStyle/>
          <a:p>
            <a:r>
              <a:rPr lang="en-US" sz="7200" dirty="0">
                <a:solidFill>
                  <a:schemeClr val="accent6">
                    <a:lumMod val="50000"/>
                  </a:schemeClr>
                </a:solidFill>
              </a:rPr>
              <a:t>SAKILA DVD- RENTAL STORE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3CF5F8-0028-8636-5006-5D5C52B3277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chemeClr val="accent6">
                    <a:lumMod val="50000"/>
                  </a:schemeClr>
                </a:solidFill>
              </a:rPr>
              <a:t>Presented by Manikanta</a:t>
            </a:r>
          </a:p>
        </p:txBody>
      </p:sp>
    </p:spTree>
    <p:extLst>
      <p:ext uri="{BB962C8B-B14F-4D97-AF65-F5344CB8AC3E}">
        <p14:creationId xmlns:p14="http://schemas.microsoft.com/office/powerpoint/2010/main" val="1773831372"/>
      </p:ext>
    </p:extLst>
  </p:cSld>
  <p:clrMapOvr>
    <a:masterClrMapping/>
  </p:clrMapOvr>
  <p:transition spd="slow" advTm="1000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FB56E-1A01-8D29-F217-638F3BEF6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845" y="907302"/>
            <a:ext cx="5115577" cy="1129315"/>
          </a:xfrm>
        </p:spPr>
        <p:txBody>
          <a:bodyPr>
            <a:normAutofit fontScale="90000"/>
          </a:bodyPr>
          <a:lstStyle/>
          <a:p>
            <a:r>
              <a:rPr lang="en-US" sz="3600" dirty="0">
                <a:solidFill>
                  <a:schemeClr val="accent6">
                    <a:lumMod val="50000"/>
                  </a:schemeClr>
                </a:solidFill>
              </a:rPr>
              <a:t>Sakila DVD rental store-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9521F-CC42-235E-F804-B826A36205D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6" y="2036617"/>
            <a:ext cx="10757500" cy="3914080"/>
          </a:xfrm>
        </p:spPr>
        <p:txBody>
          <a:bodyPr>
            <a:normAutofit/>
          </a:bodyPr>
          <a:lstStyle/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The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Sakila DVD Rental Store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is a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sample database to represent fictional movie rental business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It was created by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Mike Hillyer for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learning and demonstrating database concepts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It mainly deals with the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management of a movie rental business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Managing information about films and managing  available copies in inventory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To break it down, Sakila simulates how a movie rental company operates using a relational database</a:t>
            </a:r>
            <a:endParaRPr lang="en-US" b="1" dirty="0">
              <a:solidFill>
                <a:schemeClr val="accent6">
                  <a:lumMod val="50000"/>
                </a:schemeClr>
              </a:solidFill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b="1" dirty="0"/>
          </a:p>
          <a:p>
            <a:pPr lvl="1">
              <a:buFont typeface="Wingdings" panose="05000000000000000000" pitchFamily="2" charset="2"/>
              <a:buChar char="Ø"/>
            </a:pPr>
            <a:endParaRPr lang="en-US" b="1" dirty="0"/>
          </a:p>
          <a:p>
            <a:pPr lvl="1">
              <a:buFont typeface="Wingdings" panose="05000000000000000000" pitchFamily="2" charset="2"/>
              <a:buChar char="Ø"/>
            </a:pPr>
            <a:endParaRPr lang="en-US" b="1" dirty="0"/>
          </a:p>
          <a:p>
            <a:pPr lvl="1">
              <a:buFont typeface="Wingdings" panose="05000000000000000000" pitchFamily="2" charset="2"/>
              <a:buChar char="Ø"/>
            </a:pPr>
            <a:endParaRPr lang="en-US" b="1" dirty="0"/>
          </a:p>
          <a:p>
            <a:pPr lvl="1">
              <a:buFont typeface="Wingdings" panose="05000000000000000000" pitchFamily="2" charset="2"/>
              <a:buChar char="Ø"/>
            </a:pPr>
            <a:endParaRPr lang="en-US" b="1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689ED5E-DD28-24FA-776C-C0749A2F39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8CF791C9-6E4D-4048-586A-D1DC1FD8B5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576" y="320933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3580C36F-3ADD-427B-78E9-0F8C6F1B46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576" y="477494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F437D389-BE39-E27C-0606-41310311C5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591235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6856552A-00F8-3CA5-15DC-D4218DBE7B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009" y="5579965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2021855"/>
      </p:ext>
    </p:extLst>
  </p:cSld>
  <p:clrMapOvr>
    <a:masterClrMapping/>
  </p:clrMapOvr>
  <p:transition spd="slow" advTm="1000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7CC1D-8268-81EC-8A59-995E12CFE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669" y="333756"/>
            <a:ext cx="4361688" cy="1214489"/>
          </a:xfrm>
        </p:spPr>
        <p:txBody>
          <a:bodyPr/>
          <a:lstStyle/>
          <a:p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DATASET INTRODUCTION</a:t>
            </a:r>
            <a:endParaRPr lang="en-IN" sz="32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5A079E-8BAE-A9C8-6312-BBAE8A164F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6418" y="1350818"/>
            <a:ext cx="5112327" cy="517342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1700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Category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700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Film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700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Film text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700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Language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700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Actor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700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Flim actor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700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Store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700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Inventory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700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Rental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700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Staff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700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Payment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700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A central </a:t>
            </a:r>
            <a:r>
              <a:rPr lang="en-US" sz="1700" b="1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inventory table links films, film actor, stores and rentals</a:t>
            </a:r>
            <a:r>
              <a:rPr lang="en-US" sz="1700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  to perform complex queries. 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1700" dirty="0"/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AEA5710D-506A-AB25-27B3-753B79A8CA74}"/>
              </a:ext>
            </a:extLst>
          </p:cNvPr>
          <p:cNvPicPr>
            <a:picLocks noGrp="1" noChangeAspect="1" noChangeArrowheads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43" r="22343"/>
          <a:stretch>
            <a:fillRect/>
          </a:stretch>
        </p:blipFill>
        <p:spPr bwMode="auto">
          <a:xfrm>
            <a:off x="4717473" y="617624"/>
            <a:ext cx="6359236" cy="3091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96FF82B-1C8B-450F-EEC1-5D83F8A1FB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2615" y="3783107"/>
            <a:ext cx="3237654" cy="2150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541120"/>
      </p:ext>
    </p:extLst>
  </p:cSld>
  <p:clrMapOvr>
    <a:masterClrMapping/>
  </p:clrMapOvr>
  <p:transition spd="slow" advTm="2000">
    <p:randomBar dir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A699E-C5EA-C11B-C94C-A0BBE2A1C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333756"/>
            <a:ext cx="4634345" cy="684553"/>
          </a:xfrm>
        </p:spPr>
        <p:txBody>
          <a:bodyPr/>
          <a:lstStyle/>
          <a:p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Dataset introduction</a:t>
            </a:r>
            <a:endParaRPr lang="en-IN" sz="32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A4A8B-EA0C-A8D2-FE73-4EA8AA3C1D4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1" y="1018309"/>
            <a:ext cx="5029200" cy="55059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Dataset Includes 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Customers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i="1" dirty="0">
                <a:solidFill>
                  <a:schemeClr val="accent6">
                    <a:lumMod val="50000"/>
                  </a:schemeClr>
                </a:solidFill>
                <a:latin typeface="Agency FB" panose="020B0503020202020204" pitchFamily="34" charset="0"/>
                <a:cs typeface="Angsana New" panose="020B0502040204020203" pitchFamily="18" charset="-34"/>
              </a:rPr>
              <a:t>Address</a:t>
            </a:r>
            <a:r>
              <a:rPr lang="en-US" i="1" dirty="0">
                <a:solidFill>
                  <a:schemeClr val="accent6">
                    <a:lumMod val="50000"/>
                  </a:schemeClr>
                </a:solidFill>
                <a:latin typeface="Agency FB" panose="020B0503020202020204" pitchFamily="34" charset="0"/>
                <a:cs typeface="Angsana New" panose="020B0502040204020203" pitchFamily="18" charset="-34"/>
              </a:rPr>
              <a:t>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i="1" dirty="0">
                <a:solidFill>
                  <a:schemeClr val="accent6">
                    <a:lumMod val="50000"/>
                  </a:schemeClr>
                </a:solidFill>
                <a:latin typeface="Agency FB" panose="020B0503020202020204" pitchFamily="34" charset="0"/>
                <a:cs typeface="Angsana New" panose="020B0502040204020203" pitchFamily="18" charset="-34"/>
              </a:rPr>
              <a:t> City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i="1" dirty="0">
                <a:solidFill>
                  <a:schemeClr val="accent6">
                    <a:lumMod val="50000"/>
                  </a:schemeClr>
                </a:solidFill>
                <a:latin typeface="Agency FB" panose="020B0503020202020204" pitchFamily="34" charset="0"/>
                <a:cs typeface="Angsana New" panose="020B0502040204020203" pitchFamily="18" charset="-34"/>
              </a:rPr>
              <a:t>Country 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1700" dirty="0"/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  <p:pic>
        <p:nvPicPr>
          <p:cNvPr id="2050" name="Picture 2" descr="Customer database concept icon. Data management, customer profile and relation information in database for better digital marketing and advertising">
            <a:extLst>
              <a:ext uri="{FF2B5EF4-FFF2-40B4-BE49-F238E27FC236}">
                <a16:creationId xmlns:a16="http://schemas.microsoft.com/office/drawing/2014/main" id="{39BECA1D-4690-0056-4DE0-87EFBABEA9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1628" y="1018308"/>
            <a:ext cx="4586638" cy="2410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Finding Expected FrequenciesIn Exercises 7–12, (a) calculate the ... | Study Prep in Pearson+">
            <a:extLst>
              <a:ext uri="{FF2B5EF4-FFF2-40B4-BE49-F238E27FC236}">
                <a16:creationId xmlns:a16="http://schemas.microsoft.com/office/drawing/2014/main" id="{E0DED4B1-1DA5-E873-3F92-2C4462909E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1" y="3428999"/>
            <a:ext cx="4358986" cy="2204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33628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1000">
        <p:split orient="vert"/>
      </p:transition>
    </mc:Choice>
    <mc:Fallback>
      <p:transition spd="slow" advTm="1000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108F3B2-D46D-E73F-0A2F-7581FAF29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9227543" cy="781396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H</a:t>
            </a:r>
            <a:r>
              <a:rPr lang="en-US" sz="4800" dirty="0">
                <a:solidFill>
                  <a:schemeClr val="accent6">
                    <a:lumMod val="50000"/>
                  </a:schemeClr>
                </a:solidFill>
              </a:rPr>
              <a:t>andling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E</a:t>
            </a:r>
            <a:r>
              <a:rPr lang="en-US" sz="4800" dirty="0">
                <a:solidFill>
                  <a:schemeClr val="accent6">
                    <a:lumMod val="50000"/>
                  </a:schemeClr>
                </a:solidFill>
              </a:rPr>
              <a:t>rrors</a:t>
            </a:r>
            <a:endParaRPr lang="en-IN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5ADB175-D8D8-FFDD-9EEA-9AB5D14B0B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1273" y="1174173"/>
            <a:ext cx="8208818" cy="527858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endParaRPr lang="en-US" sz="1600" dirty="0">
              <a:solidFill>
                <a:schemeClr val="accent6">
                  <a:lumMod val="50000"/>
                </a:schemeClr>
              </a:solidFill>
            </a:endParaRP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accent6">
                    <a:lumMod val="50000"/>
                  </a:schemeClr>
                </a:solidFill>
              </a:rPr>
              <a:t>  Apply NOT NULL, PRIMARY KEY, FOREIGN KEY, UNIQUE It ensures invalid data is not inserted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endParaRPr lang="en-US" sz="1600" dirty="0">
              <a:solidFill>
                <a:schemeClr val="accent6">
                  <a:lumMod val="50000"/>
                </a:schemeClr>
              </a:solidFill>
            </a:endParaRP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accent6">
                    <a:lumMod val="50000"/>
                  </a:schemeClr>
                </a:solidFill>
              </a:rPr>
              <a:t>  Use transactions for safe operations, this Helps undo changes if an error occurs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endParaRPr lang="en-US" sz="1600" dirty="0">
              <a:solidFill>
                <a:schemeClr val="accent6">
                  <a:lumMod val="50000"/>
                </a:schemeClr>
              </a:solidFill>
            </a:endParaRP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accent6">
                    <a:lumMod val="50000"/>
                  </a:schemeClr>
                </a:solidFill>
              </a:rPr>
              <a:t>  Validate data before inserting like Check the data type, range, and format by       ensuring the payment amount is not negative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endParaRPr lang="en-US" sz="1600" dirty="0">
              <a:solidFill>
                <a:schemeClr val="accent6">
                  <a:lumMod val="50000"/>
                </a:schemeClr>
              </a:solidFill>
            </a:endParaRP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IN" sz="1600" dirty="0">
                <a:solidFill>
                  <a:schemeClr val="accent6">
                    <a:lumMod val="50000"/>
                  </a:schemeClr>
                </a:solidFill>
              </a:rPr>
              <a:t>  Avoid duplicate entries by using  </a:t>
            </a:r>
            <a:r>
              <a:rPr lang="en-IN" sz="1800" dirty="0">
                <a:solidFill>
                  <a:schemeClr val="accent6">
                    <a:lumMod val="50000"/>
                  </a:schemeClr>
                </a:solidFill>
              </a:rPr>
              <a:t>UNIQUE</a:t>
            </a:r>
            <a:r>
              <a:rPr lang="en-IN" sz="1600" dirty="0">
                <a:solidFill>
                  <a:schemeClr val="accent6">
                    <a:lumMod val="50000"/>
                  </a:schemeClr>
                </a:solidFill>
              </a:rPr>
              <a:t> constraints or checks before insert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endParaRPr lang="en-IN" sz="1600" dirty="0">
              <a:solidFill>
                <a:schemeClr val="accent6">
                  <a:lumMod val="50000"/>
                </a:schemeClr>
              </a:solidFill>
            </a:endParaRP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endParaRPr lang="en-US" sz="1600" dirty="0">
              <a:solidFill>
                <a:schemeClr val="accent6">
                  <a:lumMod val="50000"/>
                </a:schemeClr>
              </a:solidFill>
            </a:endParaRP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accent6">
                    <a:lumMod val="50000"/>
                  </a:schemeClr>
                </a:solidFill>
              </a:rPr>
              <a:t>  Logging and debugging helps in  identifying issues in queries or data also, records troubleshooting</a:t>
            </a:r>
          </a:p>
          <a:p>
            <a:pPr>
              <a:buFont typeface="Wingdings" panose="05000000000000000000" pitchFamily="2" charset="2"/>
              <a:buChar char="q"/>
            </a:pPr>
            <a:endParaRPr lang="en-IN" sz="1600" dirty="0"/>
          </a:p>
          <a:p>
            <a:pPr marL="285750" indent="-285750"/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9925257"/>
      </p:ext>
    </p:extLst>
  </p:cSld>
  <p:clrMapOvr>
    <a:masterClrMapping/>
  </p:clrMapOvr>
  <p:transition spd="slow" advTm="1000">
    <p:strips dir="l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EDBB4-D08D-9124-4065-F6A6B8F6F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845" y="406492"/>
            <a:ext cx="10816937" cy="1330036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6">
                    <a:lumMod val="50000"/>
                  </a:schemeClr>
                </a:solidFill>
              </a:rPr>
              <a:t>Null Values</a:t>
            </a:r>
            <a:endParaRPr lang="en-IN" sz="36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14ECED8-CC31-869A-E6C6-0EC9FBFDE79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3845" y="1194954"/>
            <a:ext cx="10474037" cy="4755743"/>
          </a:xfrm>
        </p:spPr>
        <p:txBody>
          <a:bodyPr>
            <a:normAutofit fontScale="92500"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accent6">
                    <a:lumMod val="50000"/>
                  </a:schemeClr>
                </a:solidFill>
              </a:rPr>
              <a:t> Identify NULL values by Using IS NULL and IS NOT NULL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accent6">
                    <a:lumMod val="50000"/>
                  </a:schemeClr>
                </a:solidFill>
              </a:rPr>
              <a:t> Replace NULL values by Using 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</a:rPr>
              <a:t>COALESCE()</a:t>
            </a:r>
            <a:r>
              <a:rPr lang="en-US" sz="1800" dirty="0">
                <a:solidFill>
                  <a:schemeClr val="accent6">
                    <a:lumMod val="50000"/>
                  </a:schemeClr>
                </a:solidFill>
              </a:rPr>
              <a:t> or 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</a:rPr>
              <a:t>IFNULL()</a:t>
            </a:r>
            <a:endParaRPr lang="en-US" sz="1800" dirty="0">
              <a:solidFill>
                <a:schemeClr val="accent6">
                  <a:lumMod val="50000"/>
                </a:schemeClr>
              </a:solidFill>
            </a:endParaRP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accent6">
                    <a:lumMod val="50000"/>
                  </a:schemeClr>
                </a:solidFill>
              </a:rPr>
              <a:t> Use 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</a:rPr>
              <a:t>DEFAULT</a:t>
            </a:r>
            <a:r>
              <a:rPr lang="en-US" sz="1800" dirty="0">
                <a:solidFill>
                  <a:schemeClr val="accent6">
                    <a:lumMod val="50000"/>
                  </a:schemeClr>
                </a:solidFill>
              </a:rPr>
              <a:t> in table definition to avoid NULLs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accent6">
                    <a:lumMod val="50000"/>
                  </a:schemeClr>
                </a:solidFill>
              </a:rPr>
              <a:t> Use 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</a:rPr>
              <a:t>UPDATE</a:t>
            </a:r>
            <a:r>
              <a:rPr lang="en-US" sz="1800" dirty="0">
                <a:solidFill>
                  <a:schemeClr val="accent6">
                    <a:lumMod val="50000"/>
                  </a:schemeClr>
                </a:solidFill>
              </a:rPr>
              <a:t> to fill NULL fields with valid data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accent6">
                    <a:lumMod val="50000"/>
                  </a:schemeClr>
                </a:solidFill>
              </a:rPr>
              <a:t> Remove rows where NULL data is not useful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P</a:t>
            </a:r>
            <a:r>
              <a:rPr lang="en-US" sz="1800" dirty="0">
                <a:solidFill>
                  <a:schemeClr val="accent6">
                    <a:lumMod val="50000"/>
                  </a:schemeClr>
                </a:solidFill>
              </a:rPr>
              <a:t>revent NULL values during data insertion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accent6">
                    <a:lumMod val="50000"/>
                  </a:schemeClr>
                </a:solidFill>
              </a:rPr>
              <a:t> Use functions to avoid incorrect results in aggregations 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q"/>
            </a:pPr>
            <a:endParaRPr lang="en-US" sz="1800" dirty="0"/>
          </a:p>
          <a:p>
            <a:pPr>
              <a:lnSpc>
                <a:spcPct val="200000"/>
              </a:lnSpc>
            </a:pPr>
            <a:endParaRPr lang="en-US" sz="18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346459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 advTm="2000">
        <p14:reveal/>
      </p:transition>
    </mc:Choice>
    <mc:Fallback>
      <p:transition spd="slow" advTm="200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0EF06-2905-00B8-CF34-65ADF45C5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1058" y="564402"/>
            <a:ext cx="4616473" cy="1386965"/>
          </a:xfrm>
        </p:spPr>
        <p:txBody>
          <a:bodyPr/>
          <a:lstStyle/>
          <a:p>
            <a:r>
              <a:rPr lang="en-US" dirty="0"/>
              <a:t>ER Diagram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FA079BC-B014-DE8D-7835-EFF8DFCCA799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493" y="1372177"/>
            <a:ext cx="10195601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1252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Tm="2000">
        <p:circle/>
      </p:transition>
    </mc:Choice>
    <mc:Fallback>
      <p:transition spd="slow" advTm="2000">
        <p:circl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5D073-DCDC-D494-05A9-309811511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899" y="418929"/>
            <a:ext cx="10809455" cy="1222835"/>
          </a:xfrm>
        </p:spPr>
        <p:txBody>
          <a:bodyPr/>
          <a:lstStyle/>
          <a:p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EDA INSIGHTS </a:t>
            </a:r>
            <a:endParaRPr lang="en-IN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C53E83-1360-8863-B7A7-8FB8F8AB1B4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3454" y="1030346"/>
            <a:ext cx="11225092" cy="5309755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Content Insights</a:t>
            </a:r>
          </a:p>
          <a:p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Platform has structured catalog and massive potential growth in Indian market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Actor Insights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i="1" dirty="0">
                <a:solidFill>
                  <a:schemeClr val="accent6">
                    <a:lumMod val="50000"/>
                  </a:schemeClr>
                </a:solidFill>
              </a:rPr>
              <a:t>Actors appear across multiple actors (reusable talent)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i="1" dirty="0">
                <a:solidFill>
                  <a:schemeClr val="accent6">
                    <a:lumMod val="50000"/>
                  </a:schemeClr>
                </a:solidFill>
              </a:rPr>
              <a:t>Films have multiple actors (resemble casting)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b="1" i="1" dirty="0">
                <a:solidFill>
                  <a:schemeClr val="accent6">
                    <a:lumMod val="50000"/>
                  </a:schemeClr>
                </a:solidFill>
              </a:rPr>
              <a:t>Inventory insights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6">
                    <a:lumMod val="50000"/>
                  </a:schemeClr>
                </a:solidFill>
              </a:rPr>
              <a:t>Inventory reflects expected demand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More copies = higher anticipated popularity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b="1" i="1" dirty="0">
                <a:solidFill>
                  <a:schemeClr val="accent6">
                    <a:lumMod val="50000"/>
                  </a:schemeClr>
                </a:solidFill>
              </a:rPr>
              <a:t>Customer insights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i="1" dirty="0">
                <a:solidFill>
                  <a:schemeClr val="accent6">
                    <a:lumMod val="50000"/>
                  </a:schemeClr>
                </a:solidFill>
              </a:rPr>
              <a:t>Strong base for retention analysis and marketing campaigns 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b="1" i="1" dirty="0">
                <a:solidFill>
                  <a:schemeClr val="accent6">
                    <a:lumMod val="50000"/>
                  </a:schemeClr>
                </a:solidFill>
              </a:rPr>
              <a:t>Geographical insights 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i="1" dirty="0">
                <a:solidFill>
                  <a:schemeClr val="accent6">
                    <a:lumMod val="50000"/>
                  </a:schemeClr>
                </a:solidFill>
              </a:rPr>
              <a:t>You can map customer distribution and regional demand this enables geo targeted marketing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b="1" i="1" dirty="0">
                <a:solidFill>
                  <a:schemeClr val="accent6">
                    <a:lumMod val="50000"/>
                  </a:schemeClr>
                </a:solidFill>
              </a:rPr>
              <a:t>Store and operations Analysis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i="1" dirty="0">
                <a:solidFill>
                  <a:schemeClr val="accent6">
                    <a:lumMod val="50000"/>
                  </a:schemeClr>
                </a:solidFill>
              </a:rPr>
              <a:t>Inventory is distributed across the stores 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i="1" dirty="0">
                <a:solidFill>
                  <a:schemeClr val="accent6">
                    <a:lumMod val="50000"/>
                  </a:schemeClr>
                </a:solidFill>
              </a:rPr>
              <a:t>Simple but effective multi-store model 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b="1" i="1" dirty="0"/>
          </a:p>
          <a:p>
            <a:pPr marL="400050" indent="-400050">
              <a:buFont typeface="+mj-lt"/>
              <a:buAutoNum type="romanUcPeriod"/>
            </a:pPr>
            <a:endParaRPr lang="en-US" b="1" i="1" dirty="0"/>
          </a:p>
          <a:p>
            <a:pPr marL="400050" indent="-400050">
              <a:buFont typeface="+mj-lt"/>
              <a:buAutoNum type="romanUcPeriod"/>
            </a:pPr>
            <a:endParaRPr lang="en-US" i="1" dirty="0"/>
          </a:p>
          <a:p>
            <a:endParaRPr lang="en-US" b="1" dirty="0"/>
          </a:p>
          <a:p>
            <a:endParaRPr lang="en-US" b="1" dirty="0"/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01210096"/>
      </p:ext>
    </p:extLst>
  </p:cSld>
  <p:clrMapOvr>
    <a:masterClrMapping/>
  </p:clrMapOvr>
  <p:transition spd="med" advTm="2000">
    <p:pull dir="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885F9-DA62-265C-4006-DAD35F10C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155" y="446809"/>
            <a:ext cx="9143999" cy="1174174"/>
          </a:xfrm>
        </p:spPr>
        <p:txBody>
          <a:bodyPr/>
          <a:lstStyle/>
          <a:p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Power BI Questions</a:t>
            </a:r>
            <a:endParaRPr lang="en-IN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D6F7F5-8D90-C9FE-30BE-19A8B002572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7364" y="1163782"/>
            <a:ext cx="10879282" cy="5247409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accent6">
                    <a:lumMod val="50000"/>
                  </a:schemeClr>
                </a:solidFill>
              </a:rPr>
              <a:t> How does the sales revenue vary by month?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accent6">
                    <a:lumMod val="50000"/>
                  </a:schemeClr>
                </a:solidFill>
              </a:rPr>
              <a:t> What is the distribution of sales by payment method?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accent6">
                    <a:lumMod val="50000"/>
                  </a:schemeClr>
                </a:solidFill>
              </a:rPr>
              <a:t> Which customer segments generate the highest sales?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accent6">
                    <a:lumMod val="50000"/>
                  </a:schemeClr>
                </a:solidFill>
              </a:rPr>
              <a:t> What is the distribution of films by rental duration?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accent6">
                    <a:lumMod val="50000"/>
                  </a:schemeClr>
                </a:solidFill>
              </a:rPr>
              <a:t> How does the inventory vary by film rating?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accent6">
                    <a:lumMod val="50000"/>
                  </a:schemeClr>
                </a:solidFill>
              </a:rPr>
              <a:t> What is the breakdown of film categories in the inventory?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accent6">
                    <a:lumMod val="50000"/>
                  </a:schemeClr>
                </a:solidFill>
              </a:rPr>
              <a:t> What is the distribution of staff by employment duration?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accent6">
                    <a:lumMod val="50000"/>
                  </a:schemeClr>
                </a:solidFill>
              </a:rPr>
              <a:t> How does the store performance vary by location?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accent6">
                    <a:lumMod val="50000"/>
                  </a:schemeClr>
                </a:solidFill>
              </a:rPr>
              <a:t> What is the average rental duration by staff member?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accent6">
                    <a:lumMod val="50000"/>
                  </a:schemeClr>
                </a:solidFill>
              </a:rPr>
              <a:t> What is the distribution of customers across different cities?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accent6">
                    <a:lumMod val="50000"/>
                  </a:schemeClr>
                </a:solidFill>
              </a:rPr>
              <a:t> How does the rental revenue vary by country?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accent6">
                    <a:lumMod val="50000"/>
                  </a:schemeClr>
                </a:solidFill>
              </a:rPr>
              <a:t> Which locations have the highest and lowest customer ratings?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accent6">
                    <a:lumMod val="50000"/>
                  </a:schemeClr>
                </a:solidFill>
              </a:rPr>
              <a:t> What is the distribution of films by language?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accent6">
                    <a:lumMod val="50000"/>
                  </a:schemeClr>
                </a:solidFill>
              </a:rPr>
              <a:t> Which film categories have the highest rental rates?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accent6">
                    <a:lumMod val="50000"/>
                  </a:schemeClr>
                </a:solidFill>
              </a:rPr>
              <a:t> How does the average rental duration vary by film category?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8847798"/>
      </p:ext>
    </p:extLst>
  </p:cSld>
  <p:clrMapOvr>
    <a:masterClrMapping/>
  </p:clrMapOvr>
  <p:transition spd="med" advTm="1000">
    <p:pull dir="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49946-493A-4C02-F97C-5E4E0174A3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D7A5EE-337F-44F4-0AAA-C3151E1169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318" y="646448"/>
            <a:ext cx="10222255" cy="5493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969628"/>
      </p:ext>
    </p:extLst>
  </p:cSld>
  <p:clrMapOvr>
    <a:masterClrMapping/>
  </p:clrMapOvr>
  <p:transition spd="slow" advTm="2000">
    <p:cover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C7084-C959-6935-0D99-455326A78F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70125" y="990600"/>
            <a:ext cx="9145588" cy="3630613"/>
          </a:xfrm>
        </p:spPr>
        <p:txBody>
          <a:bodyPr anchor="b"/>
          <a:lstStyle/>
          <a:p>
            <a:r>
              <a:rPr lang="en-US" dirty="0"/>
              <a:t>Comprehending market trends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EAC72A-863B-192E-7317-F9CBE7E878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307" y="613978"/>
            <a:ext cx="10113386" cy="5630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885377"/>
      </p:ext>
    </p:extLst>
  </p:cSld>
  <p:clrMapOvr>
    <a:masterClrMapping/>
  </p:clrMapOvr>
  <p:transition spd="slow" advTm="2000">
    <p:cover dir="l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38A69-23D3-EEFA-117E-CAA7C77DD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1" y="982133"/>
            <a:ext cx="9601197" cy="867450"/>
          </a:xfrm>
        </p:spPr>
        <p:txBody>
          <a:bodyPr/>
          <a:lstStyle/>
          <a:p>
            <a:r>
              <a:rPr lang="en-US" dirty="0"/>
              <a:t>SUMMARY AND SUGGESTIONS 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99384DF-6D4B-DA41-DB79-CCE934926DF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16972" y="2170966"/>
            <a:ext cx="10079182" cy="3434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Understanding the data structure and relationships</a:t>
            </a:r>
          </a:p>
          <a:p>
            <a:pPr marR="0" lvl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Writing SQL queries to extract useful insights </a:t>
            </a:r>
          </a:p>
          <a:p>
            <a:pPr marR="0" lvl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cleaning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(handling NULL values, ensuring consistency) </a:t>
            </a:r>
          </a:p>
          <a:p>
            <a:pPr marR="0" lvl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Analyzing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 behavior, rental trends, and revenue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</a:t>
            </a:r>
          </a:p>
          <a:p>
            <a:pPr marR="0" lvl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Using joins, aggregations, and filtering to generate reports </a:t>
            </a:r>
          </a:p>
        </p:txBody>
      </p:sp>
    </p:spTree>
    <p:extLst>
      <p:ext uri="{BB962C8B-B14F-4D97-AF65-F5344CB8AC3E}">
        <p14:creationId xmlns:p14="http://schemas.microsoft.com/office/powerpoint/2010/main" val="9477008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2000">
        <p159:morph option="byObject"/>
      </p:transition>
    </mc:Choice>
    <mc:Fallback>
      <p:transition spd="slow" advTm="2000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AB946B"/>
      </a:accent1>
      <a:accent2>
        <a:srgbClr val="C04F32"/>
      </a:accent2>
      <a:accent3>
        <a:srgbClr val="DD8C3C"/>
      </a:accent3>
      <a:accent4>
        <a:srgbClr val="8E684C"/>
      </a:accent4>
      <a:accent5>
        <a:srgbClr val="CBAF62"/>
      </a:accent5>
      <a:accent6>
        <a:srgbClr val="803348"/>
      </a:accent6>
      <a:hlink>
        <a:srgbClr val="86724D"/>
      </a:hlink>
      <a:folHlink>
        <a:srgbClr val="B99E84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A2BEDC8B-F191-493B-BA33-0F4F800A89D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83A9C388-2C06-4AF2-857C-74055069A29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76F8FCD-0A1F-4F6A-8F55-15E9E87E2E4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F782DA7-86C0-4A84-A860-11A1E6E3FB6B}">
  <ds:schemaRefs>
    <ds:schemaRef ds:uri="http://www.w3.org/XML/1998/namespace"/>
    <ds:schemaRef ds:uri="http://schemas.microsoft.com/office/2006/documentManagement/types"/>
    <ds:schemaRef ds:uri="http://purl.org/dc/elements/1.1/"/>
    <ds:schemaRef ds:uri="http://purl.org/dc/terms/"/>
    <ds:schemaRef ds:uri="http://purl.org/dc/dcmitype/"/>
    <ds:schemaRef ds:uri="http://schemas.microsoft.com/office/infopath/2007/PartnerControls"/>
    <ds:schemaRef ds:uri="71af3243-3dd4-4a8d-8c0d-dd76da1f02a5"/>
    <ds:schemaRef ds:uri="http://schemas.microsoft.com/sharepoint/v3"/>
    <ds:schemaRef ds:uri="http://schemas.microsoft.com/office/2006/metadata/properties"/>
    <ds:schemaRef ds:uri="http://schemas.openxmlformats.org/package/2006/metadata/core-properties"/>
    <ds:schemaRef ds:uri="230e9df3-be65-4c73-a93b-d1236ebd677e"/>
    <ds:schemaRef ds:uri="16c05727-aa75-4e4a-9b5f-8a80a1165891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TM02900743[[fn=Organic]]</Template>
  <TotalTime>411</TotalTime>
  <Words>576</Words>
  <Application>Microsoft Office PowerPoint</Application>
  <PresentationFormat>Widescreen</PresentationFormat>
  <Paragraphs>99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Agency FB</vt:lpstr>
      <vt:lpstr>Aptos</vt:lpstr>
      <vt:lpstr>Arial</vt:lpstr>
      <vt:lpstr>Garamond</vt:lpstr>
      <vt:lpstr>Wingdings</vt:lpstr>
      <vt:lpstr>Organic</vt:lpstr>
      <vt:lpstr>SAKILA DVD- RENTAL STORE</vt:lpstr>
      <vt:lpstr>Sakila DVD rental store- Overview</vt:lpstr>
      <vt:lpstr>DATASET INTRODUCTION</vt:lpstr>
      <vt:lpstr>Dataset introduction</vt:lpstr>
      <vt:lpstr>Handling Errors</vt:lpstr>
      <vt:lpstr>Null Values</vt:lpstr>
      <vt:lpstr>ER Diagram</vt:lpstr>
      <vt:lpstr>EDA INSIGHTS </vt:lpstr>
      <vt:lpstr>Power BI Questions</vt:lpstr>
      <vt:lpstr>PowerPoint Presentation</vt:lpstr>
      <vt:lpstr>Comprehending market trends</vt:lpstr>
      <vt:lpstr>SUMMARY AND SUGGESTIONS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Geeta Gayathri</dc:creator>
  <cp:lastModifiedBy>Geeta Gayathri</cp:lastModifiedBy>
  <cp:revision>2</cp:revision>
  <dcterms:created xsi:type="dcterms:W3CDTF">2026-04-04T17:34:16Z</dcterms:created>
  <dcterms:modified xsi:type="dcterms:W3CDTF">2026-04-05T08:35:49Z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